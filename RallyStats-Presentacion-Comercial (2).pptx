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7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692640" y="-2194560"/>
            <a:ext cx="7315200" cy="7315200"/>
          </a:xfrm>
          <a:prstGeom prst="ellipse">
            <a:avLst/>
          </a:prstGeom>
          <a:solidFill>
            <a:srgbClr val="12182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0" descr="/home/claude/deck/icons/logo_cele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RALLYSTATS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1889608" y="34564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vóley en vivo, para equipos que compiten en serio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50" dirty="0">
                <a:solidFill>
                  <a:srgbClr val="3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comercial  ·  2026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78528" y="507492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deck/icons/android_cel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408" y="51937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90592" y="50749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teléfonos y tablets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Ezequiel Castiglione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ACTUAL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Anotar un partido de vóley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todavía es un problema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/home/claude/dec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4791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26464" y="2304288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en papel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26464" y="2606040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toque se anota a mano, en plena tensión del partido, con margen alto de error humano.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630168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deck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77756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26464" y="3602736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tardías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26464" y="3904488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salen horas o días después, cuando ya no sirven para ajustar el partido en vivo.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928616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/home/claude/deck/icons/x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7601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26464" y="4901184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ni reportes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26464" y="5202936"/>
            <a:ext cx="607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un archivo digital prolijo para comparar partidos ni compartir con el club o los jugadores.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01000" y="1691640"/>
            <a:ext cx="3566160" cy="4297680"/>
          </a:xfrm>
          <a:prstGeom prst="roundRect">
            <a:avLst>
              <a:gd name="adj" fmla="val 4103"/>
            </a:avLst>
          </a:prstGeom>
          <a:solidFill>
            <a:srgbClr val="1E2A38"/>
          </a:solidFill>
          <a:ln/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Text 12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331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4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3101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tácticas basadas en datos durante el propio partido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321040" y="4224528"/>
            <a:ext cx="2926080" cy="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6"/>
          <p:cNvSpPr txBox="1"/>
          <p:nvPr/>
        </p:nvSpPr>
        <p:spPr>
          <a:xfrm>
            <a:off x="8321040" y="4434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carga en vivo, el cuerpo técnico juega a ciegas hasta el análisis posterior — cuando el resultado ya está definido.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RallyStats convierte cada punto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dato listo para usar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pensada junto a entrenadores y estadísticos, que sigue el reglamento oficial de la FIVB de punta a punta: se carga en vivo, cancha adentro, y devuelve estadísticas y reportes al instante.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1417320"/>
          </a:xfrm>
          <a:prstGeom prst="roundRect">
            <a:avLst>
              <a:gd name="adj" fmla="val 903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914400" y="2862072"/>
            <a:ext cx="512064" cy="512064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0" descr="/home/claude/deck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995209"/>
            <a:ext cx="245791" cy="2457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8346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vivo, punto por punto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136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saque, recepción, ataque, contraataque y bloqueo, calificado al instante durante el partido.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2606040"/>
            <a:ext cx="5257800" cy="1417320"/>
          </a:xfrm>
          <a:prstGeom prst="roundRect">
            <a:avLst>
              <a:gd name="adj" fmla="val 903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6583680" y="2862072"/>
            <a:ext cx="512064" cy="512064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/home/claude/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817" y="299520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8346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oficial FIVB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3136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Rotación, cambios de líbero y sanciones aplicados automáticamente, sin depender de la memoria del banco.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5257800" cy="1417320"/>
          </a:xfrm>
          <a:prstGeom prst="roundRect">
            <a:avLst>
              <a:gd name="adj" fmla="val 903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914400" y="4416552"/>
            <a:ext cx="512064" cy="512064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2" descr="/home/claude/deck/icons/filePd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37" y="454968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43891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PDF al toque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4690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por jugador, por set o partido completo, con reporte exportable listo para compartir.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09360" y="4160520"/>
            <a:ext cx="5257800" cy="1417320"/>
          </a:xfrm>
          <a:prstGeom prst="roundRect">
            <a:avLst>
              <a:gd name="adj" fmla="val 903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6"/>
          <p:cNvSpPr/>
          <p:nvPr/>
        </p:nvSpPr>
        <p:spPr>
          <a:xfrm>
            <a:off x="6583680" y="4416552"/>
            <a:ext cx="512064" cy="512064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2" name="Image 3" descr="/home/claude/deck/icons/penRul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817" y="454968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3891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táctica incluida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690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Formaciones, rotaciones y sistemas de ataque/defensa, dibujados a mano y guardados para reusar.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VIVO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por punto,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cancha delante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jugada se registra en segundos, sin sacar los ojos del partido, calificando el toque y —si se quiere— la zona de destino.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9864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4368"/>
            <a:ext cx="128016" cy="1280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2825496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Saque, recepción, ataque, contraataque, bloqueo y errores, jugada por jugada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465576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11296"/>
            <a:ext cx="128016" cy="1280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3392424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 cada toque + zona de destino opcional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032504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128016" cy="1280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959352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automática y cambios de líbero según reglas FIVB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4599432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45152"/>
            <a:ext cx="128016" cy="1280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4526280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la última jugada o el último cambio con un toque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5166360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8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12080"/>
            <a:ext cx="128016" cy="1280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87552" y="5093208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explícita de fin de set, incluido el set decisivo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403336" y="996696"/>
            <a:ext cx="2669302" cy="5047488"/>
          </a:xfrm>
          <a:prstGeom prst="roundRect">
            <a:avLst>
              <a:gd name="adj" fmla="val 75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1" name="Image 5" descr="/home/claude/deck/screens/live_sc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051560"/>
            <a:ext cx="2559574" cy="4937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183880" y="6117336"/>
            <a:ext cx="310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· calificación de saque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OFICIAL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de la FIVB,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aplicadas solas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 conoce el reglamento para que el banco no tenga que estar pendiente de contarlo de memoria en medio del partido.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sw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36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6464" y="276148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y cambios de líbero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26464" y="306324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líbero configurables set a set, con entrada automática opcional del defensor por el central que rota al fondo.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/home/claude/deck/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0793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26464" y="390448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y tarjetas (Regla 21)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426464" y="420624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Amonestación, roja, expulsión y descalificación, con el punto o la salida de cancha aplicados solos según la reincidencia.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deck/icons/ge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22232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504748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configurable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534924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sets, puntos por set y cambios permitidos, según cómo juegue cada categoría o torneo.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723376" y="813816"/>
            <a:ext cx="2764101" cy="5230368"/>
          </a:xfrm>
          <a:prstGeom prst="roundRect">
            <a:avLst>
              <a:gd name="adj" fmla="val 72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8" name="Image 3" descr="/home/claude/deck/screens/form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868680"/>
            <a:ext cx="2654373" cy="5120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503920" y="6117336"/>
            <a:ext cx="3203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· roles de líbero por set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EQUIPOS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plantel completo,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a mano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del equipo cargada una vez, lista para usar partido tras partido.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5705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6464" y="239572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35 jugadores por plantel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26464" y="269748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planilla de hasta 16 habilitados por partido, lista para el árbitro de mesa.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/home/claude/deck/icons/vectorSqua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5764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26464" y="340156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posiciones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426464" y="370332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Armador, Opuesto, Central, Punta/Receptor, Líbero y Universal.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deck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40740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físicos y foto opcionales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470916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(a mano o por fecha de nacimiento), alcances de bloqueo/ataque y foto de carnet.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8" name="Image 3" descr="/home/claude/deck/icons/whist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81" y="558808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26464" y="541324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técnico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426464" y="571500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Entrenador, asistente, auxiliar, médico y preparador físico, todo opcional.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35817" y="1362456"/>
            <a:ext cx="2171607" cy="4087368"/>
          </a:xfrm>
          <a:prstGeom prst="roundRect">
            <a:avLst>
              <a:gd name="adj" fmla="val 92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2" name="Image 4" descr="/home/claude/deck/screens/edit_t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681" y="1417320"/>
            <a:ext cx="2061879" cy="3977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16361" y="5522976"/>
            <a:ext cx="2610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equipo · 35/35 jugadores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363456" y="1362456"/>
            <a:ext cx="2171607" cy="4087368"/>
          </a:xfrm>
          <a:prstGeom prst="roundRect">
            <a:avLst>
              <a:gd name="adj" fmla="val 92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5" name="Image 5" descr="/home/claude/deck/screens/roster_sele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1417320"/>
            <a:ext cx="2061879" cy="39776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144000" y="5522976"/>
            <a:ext cx="2610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del partido · 16 habilitados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REPORTES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cancha al PDF,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planillas de Excel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cargados en vivo se convierten, al toque, en estadísticas listas para analizar y compartir.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928"/>
            <a:ext cx="128016" cy="1280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2734056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de efectividad de saque, recepción, ataque y contraataque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74136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19856"/>
            <a:ext cx="128016" cy="1280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3300984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propias y del rival, por set o del partido completo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941064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86784"/>
            <a:ext cx="128016" cy="1280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867912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individual por jugador, sanciones y zonas de destino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4507992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53712"/>
            <a:ext cx="128016" cy="1280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4434840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en PDF con un botón, listo para compartir con el club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5074920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8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20640"/>
            <a:ext cx="128016" cy="1280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87552" y="5001768"/>
            <a:ext cx="5687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un partido guardado —incluso en curso— para pasarlo a otro dispositivo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763256" y="996696"/>
            <a:ext cx="3813048" cy="5641848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1" name="Shape 14"/>
          <p:cNvSpPr/>
          <p:nvPr/>
        </p:nvSpPr>
        <p:spPr>
          <a:xfrm>
            <a:off x="7818120" y="1051560"/>
            <a:ext cx="3703320" cy="566928"/>
          </a:xfrm>
          <a:prstGeom prst="roundRect">
            <a:avLst>
              <a:gd name="adj" fmla="val 25806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15"/>
          <p:cNvSpPr/>
          <p:nvPr/>
        </p:nvSpPr>
        <p:spPr>
          <a:xfrm>
            <a:off x="7818120" y="1472184"/>
            <a:ext cx="3703320" cy="146304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3" name="Image 5" descr="/home/claude/deck/icons/filePdf_cel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1197864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385048" y="117957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PARTIDO</a:t>
            </a:r>
            <a:endParaRPr lang="en-US" sz="1150" dirty="0"/>
          </a:p>
        </p:txBody>
      </p:sp>
      <p:sp>
        <p:nvSpPr>
          <p:cNvPr id="25" name="Text 17"/>
          <p:cNvSpPr txBox="1"/>
          <p:nvPr/>
        </p:nvSpPr>
        <p:spPr>
          <a:xfrm>
            <a:off x="8037576" y="17647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Central  vs.  Club de Voley Federado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8037576" y="198424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 en sets · Liga Metropolitana · Cancha Central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8037576" y="2331720"/>
            <a:ext cx="3264408" cy="237744"/>
          </a:xfrm>
          <a:prstGeom prst="roundRect">
            <a:avLst>
              <a:gd name="adj" fmla="val 15385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0"/>
          <p:cNvSpPr txBox="1"/>
          <p:nvPr/>
        </p:nvSpPr>
        <p:spPr>
          <a:xfrm>
            <a:off x="8092440" y="2331720"/>
            <a:ext cx="11020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9267627" y="2331720"/>
            <a:ext cx="318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9659356" y="2331720"/>
            <a:ext cx="318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0051085" y="2331720"/>
            <a:ext cx="3838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Saq%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10508102" y="2331720"/>
            <a:ext cx="3512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Atq%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10932475" y="2331720"/>
            <a:ext cx="3512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Rec%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8092440" y="2606040"/>
            <a:ext cx="11020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Fernández (ARM)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9231051" y="2606040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9622780" y="2606040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>
            <a:off x="10014509" y="2606040"/>
            <a:ext cx="383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>
            <a:off x="10471526" y="2606040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10895899" y="2606040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>
            <a:off x="8092440" y="2852928"/>
            <a:ext cx="11020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 (OP)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9231051" y="2852928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9622780" y="2852928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3" name="Text 35"/>
          <p:cNvSpPr txBox="1"/>
          <p:nvPr/>
        </p:nvSpPr>
        <p:spPr>
          <a:xfrm>
            <a:off x="10014509" y="2852928"/>
            <a:ext cx="383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850" dirty="0"/>
          </a:p>
        </p:txBody>
      </p:sp>
      <p:sp>
        <p:nvSpPr>
          <p:cNvPr id="44" name="Text 36"/>
          <p:cNvSpPr txBox="1"/>
          <p:nvPr/>
        </p:nvSpPr>
        <p:spPr>
          <a:xfrm>
            <a:off x="10471526" y="2852928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50" dirty="0"/>
          </a:p>
        </p:txBody>
      </p:sp>
      <p:sp>
        <p:nvSpPr>
          <p:cNvPr id="45" name="Text 37"/>
          <p:cNvSpPr txBox="1"/>
          <p:nvPr/>
        </p:nvSpPr>
        <p:spPr>
          <a:xfrm>
            <a:off x="10895899" y="2852928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6" name="Text 38"/>
          <p:cNvSpPr txBox="1"/>
          <p:nvPr/>
        </p:nvSpPr>
        <p:spPr>
          <a:xfrm>
            <a:off x="8092440" y="3099816"/>
            <a:ext cx="11020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Molina (CEN)</a:t>
            </a:r>
            <a:endParaRPr lang="en-US" sz="850" dirty="0"/>
          </a:p>
        </p:txBody>
      </p:sp>
      <p:sp>
        <p:nvSpPr>
          <p:cNvPr id="47" name="Text 39"/>
          <p:cNvSpPr txBox="1"/>
          <p:nvPr/>
        </p:nvSpPr>
        <p:spPr>
          <a:xfrm>
            <a:off x="9231051" y="3099816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8" name="Text 40"/>
          <p:cNvSpPr txBox="1"/>
          <p:nvPr/>
        </p:nvSpPr>
        <p:spPr>
          <a:xfrm>
            <a:off x="9622780" y="3099816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9" name="Text 41"/>
          <p:cNvSpPr txBox="1"/>
          <p:nvPr/>
        </p:nvSpPr>
        <p:spPr>
          <a:xfrm>
            <a:off x="10014509" y="3099816"/>
            <a:ext cx="383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50" name="Text 42"/>
          <p:cNvSpPr txBox="1"/>
          <p:nvPr/>
        </p:nvSpPr>
        <p:spPr>
          <a:xfrm>
            <a:off x="10471526" y="3099816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50" dirty="0"/>
          </a:p>
        </p:txBody>
      </p:sp>
      <p:sp>
        <p:nvSpPr>
          <p:cNvPr id="51" name="Text 43"/>
          <p:cNvSpPr txBox="1"/>
          <p:nvPr/>
        </p:nvSpPr>
        <p:spPr>
          <a:xfrm>
            <a:off x="10895899" y="3099816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44"/>
          <p:cNvSpPr txBox="1"/>
          <p:nvPr/>
        </p:nvSpPr>
        <p:spPr>
          <a:xfrm>
            <a:off x="8092440" y="3346704"/>
            <a:ext cx="11020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Correa (P/R)</a:t>
            </a:r>
            <a:endParaRPr lang="en-US" sz="850" dirty="0"/>
          </a:p>
        </p:txBody>
      </p:sp>
      <p:sp>
        <p:nvSpPr>
          <p:cNvPr id="53" name="Text 45"/>
          <p:cNvSpPr txBox="1"/>
          <p:nvPr/>
        </p:nvSpPr>
        <p:spPr>
          <a:xfrm>
            <a:off x="9231051" y="3346704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54" name="Text 46"/>
          <p:cNvSpPr txBox="1"/>
          <p:nvPr/>
        </p:nvSpPr>
        <p:spPr>
          <a:xfrm>
            <a:off x="9622780" y="3346704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5" name="Text 47"/>
          <p:cNvSpPr txBox="1"/>
          <p:nvPr/>
        </p:nvSpPr>
        <p:spPr>
          <a:xfrm>
            <a:off x="10014509" y="3346704"/>
            <a:ext cx="383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50" dirty="0"/>
          </a:p>
        </p:txBody>
      </p:sp>
      <p:sp>
        <p:nvSpPr>
          <p:cNvPr id="56" name="Text 48"/>
          <p:cNvSpPr txBox="1"/>
          <p:nvPr/>
        </p:nvSpPr>
        <p:spPr>
          <a:xfrm>
            <a:off x="10471526" y="3346704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850" dirty="0"/>
          </a:p>
        </p:txBody>
      </p:sp>
      <p:sp>
        <p:nvSpPr>
          <p:cNvPr id="57" name="Text 49"/>
          <p:cNvSpPr txBox="1"/>
          <p:nvPr/>
        </p:nvSpPr>
        <p:spPr>
          <a:xfrm>
            <a:off x="10895899" y="3346704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850" dirty="0"/>
          </a:p>
        </p:txBody>
      </p:sp>
      <p:sp>
        <p:nvSpPr>
          <p:cNvPr id="58" name="Text 50"/>
          <p:cNvSpPr txBox="1"/>
          <p:nvPr/>
        </p:nvSpPr>
        <p:spPr>
          <a:xfrm>
            <a:off x="8092440" y="3593592"/>
            <a:ext cx="11020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Núñez (LIB)</a:t>
            </a:r>
            <a:endParaRPr lang="en-US" sz="850" dirty="0"/>
          </a:p>
        </p:txBody>
      </p:sp>
      <p:sp>
        <p:nvSpPr>
          <p:cNvPr id="59" name="Text 51"/>
          <p:cNvSpPr txBox="1"/>
          <p:nvPr/>
        </p:nvSpPr>
        <p:spPr>
          <a:xfrm>
            <a:off x="9231051" y="3593592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60" name="Text 52"/>
          <p:cNvSpPr txBox="1"/>
          <p:nvPr/>
        </p:nvSpPr>
        <p:spPr>
          <a:xfrm>
            <a:off x="9622780" y="3593592"/>
            <a:ext cx="3185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Text 53"/>
          <p:cNvSpPr txBox="1"/>
          <p:nvPr/>
        </p:nvSpPr>
        <p:spPr>
          <a:xfrm>
            <a:off x="10014509" y="3593592"/>
            <a:ext cx="383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2" name="Text 54"/>
          <p:cNvSpPr txBox="1"/>
          <p:nvPr/>
        </p:nvSpPr>
        <p:spPr>
          <a:xfrm>
            <a:off x="10471526" y="3593592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3" name="Text 55"/>
          <p:cNvSpPr txBox="1"/>
          <p:nvPr/>
        </p:nvSpPr>
        <p:spPr>
          <a:xfrm>
            <a:off x="10895899" y="3593592"/>
            <a:ext cx="3512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8037576" y="3840480"/>
            <a:ext cx="32644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5" name="Text 57"/>
          <p:cNvSpPr txBox="1"/>
          <p:nvPr/>
        </p:nvSpPr>
        <p:spPr>
          <a:xfrm>
            <a:off x="8092440" y="3877056"/>
            <a:ext cx="11020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EQUIPO</a:t>
            </a:r>
            <a:endParaRPr lang="en-US" sz="850" dirty="0"/>
          </a:p>
        </p:txBody>
      </p:sp>
      <p:sp>
        <p:nvSpPr>
          <p:cNvPr id="66" name="Text 58"/>
          <p:cNvSpPr txBox="1"/>
          <p:nvPr/>
        </p:nvSpPr>
        <p:spPr>
          <a:xfrm>
            <a:off x="9231051" y="3877056"/>
            <a:ext cx="318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sp>
        <p:nvSpPr>
          <p:cNvPr id="67" name="Text 59"/>
          <p:cNvSpPr txBox="1"/>
          <p:nvPr/>
        </p:nvSpPr>
        <p:spPr>
          <a:xfrm>
            <a:off x="9622780" y="3877056"/>
            <a:ext cx="318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8" name="Text 60"/>
          <p:cNvSpPr txBox="1"/>
          <p:nvPr/>
        </p:nvSpPr>
        <p:spPr>
          <a:xfrm>
            <a:off x="10014509" y="3877056"/>
            <a:ext cx="3838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850" dirty="0"/>
          </a:p>
        </p:txBody>
      </p:sp>
      <p:sp>
        <p:nvSpPr>
          <p:cNvPr id="69" name="Text 61"/>
          <p:cNvSpPr txBox="1"/>
          <p:nvPr/>
        </p:nvSpPr>
        <p:spPr>
          <a:xfrm>
            <a:off x="10471526" y="3877056"/>
            <a:ext cx="3512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50" dirty="0"/>
          </a:p>
        </p:txBody>
      </p:sp>
      <p:sp>
        <p:nvSpPr>
          <p:cNvPr id="70" name="Text 62"/>
          <p:cNvSpPr txBox="1"/>
          <p:nvPr/>
        </p:nvSpPr>
        <p:spPr>
          <a:xfrm>
            <a:off x="10895899" y="3877056"/>
            <a:ext cx="3512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850" dirty="0"/>
          </a:p>
        </p:txBody>
      </p:sp>
      <p:sp>
        <p:nvSpPr>
          <p:cNvPr id="71" name="Shape 63"/>
          <p:cNvSpPr/>
          <p:nvPr/>
        </p:nvSpPr>
        <p:spPr>
          <a:xfrm>
            <a:off x="8037576" y="4261104"/>
            <a:ext cx="32644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2" name="Text 64"/>
          <p:cNvSpPr txBox="1"/>
          <p:nvPr/>
        </p:nvSpPr>
        <p:spPr>
          <a:xfrm>
            <a:off x="8037576" y="440740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DEL RIVAL · ERRORES POR TIPO</a:t>
            </a:r>
            <a:endParaRPr lang="en-US" sz="800" dirty="0"/>
          </a:p>
        </p:txBody>
      </p:sp>
      <p:sp>
        <p:nvSpPr>
          <p:cNvPr id="73" name="Text 65"/>
          <p:cNvSpPr txBox="1"/>
          <p:nvPr/>
        </p:nvSpPr>
        <p:spPr>
          <a:xfrm>
            <a:off x="8037576" y="4663440"/>
            <a:ext cx="742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74" name="Text 66"/>
          <p:cNvSpPr txBox="1"/>
          <p:nvPr/>
        </p:nvSpPr>
        <p:spPr>
          <a:xfrm>
            <a:off x="8037576" y="4956048"/>
            <a:ext cx="7429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</a:t>
            </a:r>
            <a:endParaRPr lang="en-US" sz="750" dirty="0"/>
          </a:p>
        </p:txBody>
      </p:sp>
      <p:sp>
        <p:nvSpPr>
          <p:cNvPr id="75" name="Text 67"/>
          <p:cNvSpPr txBox="1"/>
          <p:nvPr/>
        </p:nvSpPr>
        <p:spPr>
          <a:xfrm>
            <a:off x="8853678" y="4663440"/>
            <a:ext cx="742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76" name="Text 68"/>
          <p:cNvSpPr txBox="1"/>
          <p:nvPr/>
        </p:nvSpPr>
        <p:spPr>
          <a:xfrm>
            <a:off x="8853678" y="4956048"/>
            <a:ext cx="7429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750" dirty="0"/>
          </a:p>
        </p:txBody>
      </p:sp>
      <p:sp>
        <p:nvSpPr>
          <p:cNvPr id="77" name="Text 69"/>
          <p:cNvSpPr txBox="1"/>
          <p:nvPr/>
        </p:nvSpPr>
        <p:spPr>
          <a:xfrm>
            <a:off x="9669780" y="4663440"/>
            <a:ext cx="742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0"/>
          <p:cNvSpPr txBox="1"/>
          <p:nvPr/>
        </p:nvSpPr>
        <p:spPr>
          <a:xfrm>
            <a:off x="9669780" y="4956048"/>
            <a:ext cx="7429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</a:t>
            </a:r>
            <a:endParaRPr lang="en-US" sz="750" dirty="0"/>
          </a:p>
        </p:txBody>
      </p:sp>
      <p:sp>
        <p:nvSpPr>
          <p:cNvPr id="79" name="Text 71"/>
          <p:cNvSpPr txBox="1"/>
          <p:nvPr/>
        </p:nvSpPr>
        <p:spPr>
          <a:xfrm>
            <a:off x="10485882" y="4663440"/>
            <a:ext cx="742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0" name="Text 72"/>
          <p:cNvSpPr txBox="1"/>
          <p:nvPr/>
        </p:nvSpPr>
        <p:spPr>
          <a:xfrm>
            <a:off x="10485882" y="4956048"/>
            <a:ext cx="7429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</a:t>
            </a:r>
            <a:endParaRPr lang="en-US" sz="750" dirty="0"/>
          </a:p>
        </p:txBody>
      </p:sp>
      <p:sp>
        <p:nvSpPr>
          <p:cNvPr id="81" name="Shape 73"/>
          <p:cNvSpPr/>
          <p:nvPr/>
        </p:nvSpPr>
        <p:spPr>
          <a:xfrm>
            <a:off x="8037576" y="5266944"/>
            <a:ext cx="32644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2" name="Text 74"/>
          <p:cNvSpPr txBox="1"/>
          <p:nvPr/>
        </p:nvSpPr>
        <p:spPr>
          <a:xfrm>
            <a:off x="8037576" y="539496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zonas de destino (Z1 a Z6) de saque, ataque y contraataque, y el detalle de estadística de cada set por separado.</a:t>
            </a:r>
            <a:endParaRPr lang="en-US" sz="850" dirty="0"/>
          </a:p>
        </p:txBody>
      </p:sp>
      <p:sp>
        <p:nvSpPr>
          <p:cNvPr id="83" name="Text 75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84" name="Text 76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TÁCTICA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Formaciones y jugadas,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dibujadas a mano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cancha en blanco, siempre a un toque de distancia, para explicar la próxima jugada sin salir de la 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penRul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027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6464" y="285292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libre sobre la cancha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26464" y="315468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Formaciones, rotaciones y sistemas de ataque/defensa, con colores y modo flecha.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/home/claude/deck/icons/layerGro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0793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26464" y="390448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propio de jugadas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426464" y="420624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cada jugada dibujada y reusala cuando la necesites, sin volver a dibujarla.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deck/icons/mob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1308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95604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en el momento justo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525780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pantalla principal, la formación previa al set y la carga en vivo del partido.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54696" y="996696"/>
            <a:ext cx="3721608" cy="564184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3"/>
          <p:cNvSpPr/>
          <p:nvPr/>
        </p:nvSpPr>
        <p:spPr>
          <a:xfrm>
            <a:off x="7909560" y="1051560"/>
            <a:ext cx="3611880" cy="566928"/>
          </a:xfrm>
          <a:prstGeom prst="roundRect">
            <a:avLst>
              <a:gd name="adj" fmla="val 25806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7909560" y="1472184"/>
            <a:ext cx="3611880" cy="146304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3" descr="/home/claude/deck/icons/penRuler_cele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28" y="11978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76488" y="117957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TÁCTICA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165592" y="1746504"/>
            <a:ext cx="237744" cy="23774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Shape 17"/>
          <p:cNvSpPr/>
          <p:nvPr/>
        </p:nvSpPr>
        <p:spPr>
          <a:xfrm>
            <a:off x="8476488" y="1746504"/>
            <a:ext cx="237744" cy="23774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18"/>
          <p:cNvSpPr/>
          <p:nvPr/>
        </p:nvSpPr>
        <p:spPr>
          <a:xfrm>
            <a:off x="8787384" y="1746504"/>
            <a:ext cx="237744" cy="237744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19"/>
          <p:cNvSpPr/>
          <p:nvPr/>
        </p:nvSpPr>
        <p:spPr>
          <a:xfrm>
            <a:off x="9098280" y="1746504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Shape 20"/>
          <p:cNvSpPr/>
          <p:nvPr/>
        </p:nvSpPr>
        <p:spPr>
          <a:xfrm>
            <a:off x="9409176" y="1746504"/>
            <a:ext cx="237744" cy="237744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1"/>
          <p:cNvSpPr/>
          <p:nvPr/>
        </p:nvSpPr>
        <p:spPr>
          <a:xfrm>
            <a:off x="10213848" y="17190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Shape 22"/>
          <p:cNvSpPr/>
          <p:nvPr/>
        </p:nvSpPr>
        <p:spPr>
          <a:xfrm>
            <a:off x="10323576" y="1828800"/>
            <a:ext cx="201168" cy="91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3"/>
          <p:cNvSpPr txBox="1"/>
          <p:nvPr/>
        </p:nvSpPr>
        <p:spPr>
          <a:xfrm>
            <a:off x="10597896" y="171907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183880" y="2148840"/>
            <a:ext cx="3063240" cy="3657600"/>
          </a:xfrm>
          <a:prstGeom prst="rect">
            <a:avLst/>
          </a:prstGeom>
          <a:solidFill>
            <a:srgbClr val="E7F4FA"/>
          </a:solidFill>
          <a:ln w="1905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5"/>
          <p:cNvSpPr/>
          <p:nvPr/>
        </p:nvSpPr>
        <p:spPr>
          <a:xfrm>
            <a:off x="8183880" y="3977640"/>
            <a:ext cx="3063240" cy="0"/>
          </a:xfrm>
          <a:prstGeom prst="line">
            <a:avLst/>
          </a:prstGeom>
          <a:noFill/>
          <a:ln w="254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26"/>
          <p:cNvSpPr/>
          <p:nvPr/>
        </p:nvSpPr>
        <p:spPr>
          <a:xfrm>
            <a:off x="8183880" y="3165653"/>
            <a:ext cx="3063240" cy="0"/>
          </a:xfrm>
          <a:prstGeom prst="line">
            <a:avLst/>
          </a:prstGeom>
          <a:noFill/>
          <a:ln w="12700">
            <a:solidFill>
              <a:srgbClr val="9FCEDF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27"/>
          <p:cNvSpPr/>
          <p:nvPr/>
        </p:nvSpPr>
        <p:spPr>
          <a:xfrm>
            <a:off x="8183880" y="4789627"/>
            <a:ext cx="3063240" cy="0"/>
          </a:xfrm>
          <a:prstGeom prst="line">
            <a:avLst/>
          </a:prstGeom>
          <a:noFill/>
          <a:ln w="12700">
            <a:solidFill>
              <a:srgbClr val="9FCEDF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28"/>
          <p:cNvSpPr/>
          <p:nvPr/>
        </p:nvSpPr>
        <p:spPr>
          <a:xfrm>
            <a:off x="8570671" y="4837176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29"/>
          <p:cNvSpPr txBox="1"/>
          <p:nvPr/>
        </p:nvSpPr>
        <p:spPr>
          <a:xfrm>
            <a:off x="8570671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550908" y="5093208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1"/>
          <p:cNvSpPr txBox="1"/>
          <p:nvPr/>
        </p:nvSpPr>
        <p:spPr>
          <a:xfrm>
            <a:off x="9550908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10531145" y="4837176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3"/>
          <p:cNvSpPr txBox="1"/>
          <p:nvPr/>
        </p:nvSpPr>
        <p:spPr>
          <a:xfrm>
            <a:off x="10531145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8693201" y="3995928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5"/>
          <p:cNvSpPr txBox="1"/>
          <p:nvPr/>
        </p:nvSpPr>
        <p:spPr>
          <a:xfrm>
            <a:off x="8693201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550908" y="4178808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37"/>
          <p:cNvSpPr txBox="1"/>
          <p:nvPr/>
        </p:nvSpPr>
        <p:spPr>
          <a:xfrm>
            <a:off x="955090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10469880" y="3995928"/>
            <a:ext cx="329184" cy="329184"/>
          </a:xfrm>
          <a:prstGeom prst="ellipse">
            <a:avLst/>
          </a:prstGeom>
          <a:solidFill>
            <a:srgbClr val="3DC2E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39"/>
          <p:cNvSpPr txBox="1"/>
          <p:nvPr/>
        </p:nvSpPr>
        <p:spPr>
          <a:xfrm>
            <a:off x="1046988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 flipH="1">
            <a:off x="8534095" y="4160520"/>
            <a:ext cx="323698" cy="1005840"/>
          </a:xfrm>
          <a:prstGeom prst="line">
            <a:avLst/>
          </a:prstGeom>
          <a:noFill/>
          <a:ln w="25400">
            <a:solidFill>
              <a:srgbClr val="1E2A38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1"/>
          <p:cNvSpPr/>
          <p:nvPr/>
        </p:nvSpPr>
        <p:spPr>
          <a:xfrm>
            <a:off x="8631936" y="256946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Shape 42"/>
          <p:cNvSpPr/>
          <p:nvPr/>
        </p:nvSpPr>
        <p:spPr>
          <a:xfrm>
            <a:off x="9550908" y="2496312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Shape 43"/>
          <p:cNvSpPr/>
          <p:nvPr/>
        </p:nvSpPr>
        <p:spPr>
          <a:xfrm>
            <a:off x="10469880" y="256946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0" name="Image 4" descr="/home/claude/deck/icons/layerGroup_gr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5952744"/>
            <a:ext cx="182880" cy="18288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8439912" y="593445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5-1 · hace 2 días · 8 trazos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Y CÓMO FUNCIONA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para la cancha,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o sin señal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gimnasios sin wifi confiable: los datos del partido viven en el dispositivo, no en la nube.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027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6464" y="285292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en el dispositivo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26464" y="315468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Equipos, jugadores, partidos y jugadas de pizarra se guardan localmente (Hive), sin backend.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/home/claude/deck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0793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26464" y="390448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protegida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426464" y="420624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inicio de sesión valida cuántos dispositivos tienen la cuenta abierta a la vez.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deck/icons/mo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1308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26464" y="495604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426464" y="5257800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banco de día o para un gimnasio con poca luz, sin perder legibilidad.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18120" y="1051560"/>
            <a:ext cx="3703320" cy="5532120"/>
          </a:xfrm>
          <a:prstGeom prst="roundRect">
            <a:avLst>
              <a:gd name="adj" fmla="val 3951"/>
            </a:avLst>
          </a:prstGeom>
          <a:solidFill>
            <a:srgbClr val="1E2A38"/>
          </a:solidFill>
          <a:ln/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3"/>
          <p:cNvSpPr txBox="1"/>
          <p:nvPr/>
        </p:nvSpPr>
        <p:spPr>
          <a:xfrm>
            <a:off x="809244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3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APP, DOS TAMAÑOS DE CANCHA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321040" y="1874520"/>
            <a:ext cx="914400" cy="1783080"/>
          </a:xfrm>
          <a:prstGeom prst="roundRect">
            <a:avLst>
              <a:gd name="adj" fmla="val 13000"/>
            </a:avLst>
          </a:prstGeom>
          <a:solidFill>
            <a:srgbClr val="202B38"/>
          </a:solidFill>
          <a:ln w="1905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5"/>
          <p:cNvSpPr/>
          <p:nvPr/>
        </p:nvSpPr>
        <p:spPr>
          <a:xfrm>
            <a:off x="8412480" y="2002536"/>
            <a:ext cx="731520" cy="1453896"/>
          </a:xfrm>
          <a:prstGeom prst="roundRect">
            <a:avLst>
              <a:gd name="adj" fmla="val 5000"/>
            </a:avLst>
          </a:prstGeom>
          <a:solidFill>
            <a:srgbClr val="0F162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3" descr="/home/claude/deck/icons/android_cele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455164"/>
            <a:ext cx="256032" cy="25603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601200" y="2103120"/>
            <a:ext cx="1691640" cy="1325880"/>
          </a:xfrm>
          <a:prstGeom prst="roundRect">
            <a:avLst>
              <a:gd name="adj" fmla="val 8966"/>
            </a:avLst>
          </a:prstGeom>
          <a:solidFill>
            <a:srgbClr val="202B38"/>
          </a:solidFill>
          <a:ln w="1905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17"/>
          <p:cNvSpPr/>
          <p:nvPr/>
        </p:nvSpPr>
        <p:spPr>
          <a:xfrm>
            <a:off x="9710928" y="2212848"/>
            <a:ext cx="1472184" cy="1106424"/>
          </a:xfrm>
          <a:prstGeom prst="roundRect">
            <a:avLst>
              <a:gd name="adj" fmla="val 3306"/>
            </a:avLst>
          </a:prstGeom>
          <a:solidFill>
            <a:srgbClr val="0F162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4" name="Image 4" descr="/home/claude/deck/icons/android_cele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428" y="260146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0100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909560" y="4059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cancha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326880" y="3803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326880" y="405993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banco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183880" y="4462272"/>
            <a:ext cx="2971800" cy="0"/>
          </a:xfrm>
          <a:prstGeom prst="line">
            <a:avLst/>
          </a:prstGeom>
          <a:noFill/>
          <a:ln w="12700">
            <a:solidFill>
              <a:srgbClr val="3346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3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1" name="Image 5" descr="/home/claude/deck/icons/database_cele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4745736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659368" y="45902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 de reglas y datos, adaptado a la pantalla que tengas a mano en el banco.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183880" y="5303520"/>
            <a:ext cx="365760" cy="365760"/>
          </a:xfrm>
          <a:prstGeom prst="ellipse">
            <a:avLst/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4" name="Image 6" descr="/home/claude/deck/icons/lock_cele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5404104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659368" y="52486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dispositivo guarda sus propios partidos y jugadas — sin depender de conexión.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 para empezar,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para competir sin límites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mensual, gestionada de forma segura a través de Google Play Billing.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12080" cy="3977640"/>
          </a:xfrm>
          <a:prstGeom prst="roundRect">
            <a:avLst>
              <a:gd name="adj" fmla="val 367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probar la app</a:t>
            </a:r>
            <a:endParaRPr lang="en-US" sz="2000" dirty="0"/>
          </a:p>
        </p:txBody>
      </p:sp>
      <p:pic>
        <p:nvPicPr>
          <p:cNvPr id="8" name="Image 0" descr="/home/claude/deck/icons/xmark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49300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34198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partidos guardados</a:t>
            </a:r>
            <a:endParaRPr lang="en-US" sz="1250" dirty="0"/>
          </a:p>
        </p:txBody>
      </p:sp>
      <p:pic>
        <p:nvPicPr>
          <p:cNvPr id="10" name="Image 1" descr="/home/claude/deck/icons/xmark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776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39044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al mejor de 3 sets</a:t>
            </a:r>
            <a:endParaRPr lang="en-US" sz="1250" dirty="0"/>
          </a:p>
        </p:txBody>
      </p:sp>
      <p:pic>
        <p:nvPicPr>
          <p:cNvPr id="12" name="Image 2" descr="/home/claude/deck/icons/xmark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6227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61872" y="43891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pizarra táctica</a:t>
            </a:r>
            <a:endParaRPr lang="en-US" sz="1250" dirty="0"/>
          </a:p>
        </p:txBody>
      </p:sp>
      <p:pic>
        <p:nvPicPr>
          <p:cNvPr id="14" name="Image 3" descr="/home/claude/deck/icons/xmark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94690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61872" y="4873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estadísticas ni reporte en PDF</a:t>
            </a:r>
            <a:endParaRPr lang="en-US" sz="1250" dirty="0"/>
          </a:p>
        </p:txBody>
      </p:sp>
      <p:pic>
        <p:nvPicPr>
          <p:cNvPr id="16" name="Image 4" descr="/home/claude/deck/icons/xmark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431536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61872" y="53583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zona de destino de jugada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309360" y="2148840"/>
            <a:ext cx="5257800" cy="4206240"/>
          </a:xfrm>
          <a:prstGeom prst="roundRect">
            <a:avLst>
              <a:gd name="adj" fmla="val 3478"/>
            </a:avLst>
          </a:prstGeom>
          <a:solidFill>
            <a:srgbClr val="1E2A38"/>
          </a:solidFill>
          <a:ln/>
          <a:effectLst>
            <a:outerShdw blurRad="152400" dist="38100" dir="5400000" algn="bl" rotWithShape="0">
              <a:srgbClr val="0F1115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2"/>
          <p:cNvSpPr/>
          <p:nvPr/>
        </p:nvSpPr>
        <p:spPr>
          <a:xfrm>
            <a:off x="9875520" y="19659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3"/>
          <p:cNvSpPr txBox="1"/>
          <p:nvPr/>
        </p:nvSpPr>
        <p:spPr>
          <a:xfrm>
            <a:off x="987552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66294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662940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límites para competir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629400" y="3291840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4" name="Image 5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337560"/>
            <a:ext cx="128016" cy="1280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4944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y sets sin límite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629400" y="376732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7" name="Image 6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813048"/>
            <a:ext cx="128016" cy="12801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4944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táctica completa + archivo de jugadas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629400" y="4242816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0" name="Image 7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88536"/>
            <a:ext cx="128016" cy="12801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49440" y="4178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Estadísticas, PDF y zona de destino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629400" y="4718304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3" name="Image 8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764024"/>
            <a:ext cx="128016" cy="12801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949440" y="4654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dispositivos adicionales por cuenta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6629400" y="5193792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6" name="Image 9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239512"/>
            <a:ext cx="128016" cy="12801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949440" y="5129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gratuita de 7 días</a:t>
            </a:r>
            <a:endParaRPr lang="en-US" sz="1250" dirty="0"/>
          </a:p>
        </p:txBody>
      </p:sp>
      <p:sp>
        <p:nvSpPr>
          <p:cNvPr id="38" name="Shape 26"/>
          <p:cNvSpPr/>
          <p:nvPr/>
        </p:nvSpPr>
        <p:spPr>
          <a:xfrm>
            <a:off x="6629400" y="5669280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9" name="Image 10" descr="/home/claude/deck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715000"/>
            <a:ext cx="128016" cy="128016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949440" y="5605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y gestión desde Google Play</a:t>
            </a:r>
            <a:endParaRPr lang="en-US" sz="1250" dirty="0"/>
          </a:p>
        </p:txBody>
      </p:sp>
      <p:sp>
        <p:nvSpPr>
          <p:cNvPr id="41" name="Text 28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42" name="Text 29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20" dirty="0">
                <a:solidFill>
                  <a:srgbClr val="52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hoy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hacia dónde 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76656" y="2002536"/>
            <a:ext cx="292608" cy="292608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66544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36136" y="1956816"/>
            <a:ext cx="384048" cy="384048"/>
          </a:xfrm>
          <a:prstGeom prst="ellipse">
            <a:avLst/>
          </a:prstGeom>
          <a:solidFill>
            <a:srgbClr val="3DC2EC"/>
          </a:solidFill>
          <a:ln w="25400">
            <a:solidFill>
              <a:srgbClr val="3DC2E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 txBox="1"/>
          <p:nvPr/>
        </p:nvSpPr>
        <p:spPr>
          <a:xfrm>
            <a:off x="350520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7056" y="20025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 txBox="1"/>
          <p:nvPr/>
        </p:nvSpPr>
        <p:spPr>
          <a:xfrm>
            <a:off x="701040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192256" y="20025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 txBox="1"/>
          <p:nvPr/>
        </p:nvSpPr>
        <p:spPr>
          <a:xfrm>
            <a:off x="1051560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 · pipeline de testing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3383280"/>
            <a:ext cx="525780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6" name="Image 1" descr="/home/claude/deck/icons/circleCheck_cel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588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914400" y="417880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24528"/>
            <a:ext cx="128016" cy="1280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61872" y="410565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 funcionalidades del core 100% completo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400" y="468172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2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27448"/>
            <a:ext cx="128016" cy="1280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61872" y="460857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validadas contra planilla de referencia real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14400" y="518464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5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30368"/>
            <a:ext cx="128016" cy="1280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61872" y="511149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release (keystore) configurada para Play Console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14400" y="5687568"/>
            <a:ext cx="219456" cy="219456"/>
          </a:xfrm>
          <a:prstGeom prst="ellipse">
            <a:avLst/>
          </a:prstGeom>
          <a:solidFill>
            <a:srgbClr val="3DC2EC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8" name="Image 5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733288"/>
            <a:ext cx="128016" cy="12801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261872" y="561441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Avanzando por el pipeline de testing de Google Play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309360" y="3383280"/>
            <a:ext cx="525780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1" name="Image 6" descr="/home/claude/deck/icons/rocket_celes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57600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9516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700" dirty="0"/>
          </a:p>
        </p:txBody>
      </p:sp>
      <p:sp>
        <p:nvSpPr>
          <p:cNvPr id="33" name="Shape 24"/>
          <p:cNvSpPr/>
          <p:nvPr/>
        </p:nvSpPr>
        <p:spPr>
          <a:xfrm>
            <a:off x="6583680" y="4178808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4" name="Image 7" descr="/home/claude/dec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224528"/>
            <a:ext cx="128016" cy="12801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31152" y="4105656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server-side de la suscripción (RevenueCat + RTDN)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583680" y="4800600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7" name="Image 8" descr="/home/claude/dec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846320"/>
            <a:ext cx="128016" cy="12801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31152" y="4727448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para iOS (build separada, sin datos compartidos con Android)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6583680" y="5422392"/>
            <a:ext cx="219456" cy="219456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0" name="Image 9" descr="/home/claude/deck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468112"/>
            <a:ext cx="128016" cy="12801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931152" y="5349240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continuas guiadas por feedback real de cuerpos técnicos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54864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6400800" cy="6400800"/>
          </a:xfrm>
          <a:prstGeom prst="ellipse">
            <a:avLst/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/home/claude/deck/icons/logo_cele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28" y="9601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0968" y="224028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Llevá las estadísticas de tu equipo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siguiente nivel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072488" y="3429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RallyStats — carga en vivo, reglas oficiales de la FIVB y reportes profesionales, en la cancha y sin conexión.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992728" y="4434840"/>
            <a:ext cx="4206240" cy="548640"/>
          </a:xfrm>
          <a:prstGeom prst="roundRect">
            <a:avLst>
              <a:gd name="adj" fmla="val 23333"/>
            </a:avLst>
          </a:prstGeom>
          <a:solidFill>
            <a:srgbClr val="202B38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/home/claude/deck/icons/envelope_cele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184" y="45902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87088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ecastiglione@frba.utn.edu.ar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federperez@frba.utn.edu.ar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tiempo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Microsoft Office PowerPoint</Application>
  <PresentationFormat>Panorámica</PresentationFormat>
  <Paragraphs>240</Paragraphs>
  <Slides>12</Slides>
  <Notes>12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Ezequiel Castiglione</cp:lastModifiedBy>
  <cp:revision>2</cp:revision>
  <dcterms:created xsi:type="dcterms:W3CDTF">2026-08-27T15:48:39Z</dcterms:created>
  <dcterms:modified xsi:type="dcterms:W3CDTF">2026-08-27T15:58:07Z</dcterms:modified>
</cp:coreProperties>
</file>